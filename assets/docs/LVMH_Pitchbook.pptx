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LVMH Moët Hennessy Louis Vuitton  (MC FP)</a:t>
            </a:r>
          </a:p>
          <a:p>
            <a:pPr algn="ctr"/>
            <a:r>
              <a:rPr sz="1800" b="0" i="0">
                <a:solidFill>
                  <a:srgbClr val="D1D5DB"/>
                </a:solidFill>
                <a:latin typeface="Arial"/>
              </a:rPr>
              <a:t>Initiating Coverage  ·  Luxury Goods</a:t>
            </a:r>
          </a:p>
          <a:p>
            <a:pPr algn="ctr">
              <a:spcBef>
                <a:spcPts val="1000"/>
              </a:spcBef>
            </a:pPr>
            <a:r>
              <a:rPr sz="2200" b="1" i="0">
                <a:solidFill>
                  <a:srgbClr val="FFFFFF"/>
                </a:solidFill>
                <a:latin typeface="Arial"/>
              </a:rPr>
              <a:t>BUY   ·   Target €505   ·   Upside +30%   ·   Current €388.10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737373"/>
                </a:solidFill>
                <a:latin typeface="Arial"/>
              </a:rPr>
              <a:t>Axone Equity Research   |   Prepared by Sabashvili Rezi   |  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Investment thesis: the luxury benchmark at a cyclical 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LVMH trades at 11.9x EV/EBIT 2026E versus a 16.5x median for core luxury peers, a 28% discount. The shares are down 40% year to date and sit 41% below their 52-week high.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Quality at a discount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9272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Group organic growth held at +2% in the first nine months of 2026 while Fashion &amp; Leather Goods fell 2%. Watches &amp; Jewelry (+8%) and Selective Retailing (+6%) took over, and Fashion still earned a 34.1% margin in H1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Diversification at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Net financial debt of €8.2bn is only 0.4x EBITDA, with AA- / Aa3 ratings. We model €68bn of unlevered FCF from FY27E to FY31E, enough to fund rising dividends and buybacks and reach net cash by FY28E.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1344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Fortress balance 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43416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We only rebuild the Fashion margin to 36.5% by FY30E, against 39.9% in FY23. A faster creative turnaround at the Maisons, or a China recovery, would be upside to our €505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3416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Fashion reset is a free 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 diversified portfolio of 75 Maisons across five business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02780"/>
            <a:ext cx="7315200" cy="4652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Fashion is the profit engine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Fashion &amp; Leather Goods made 47% of FY25 sales but 74% of profit from recurring operations, at a 35.0% margin.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Growth has rotated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In the first nine months of 2026, Watches &amp; Jewelry (+8% organic) and Selective Retailing (+6%) offset the slowdown in Fashion (-2%).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Portfolio pruning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The sale of Marc Jacobs to WHP Global and of DFS Greater China to China Tourism Group Duty Free refocus the group on its core Maisons.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FY26E marks the trough; growth and margins rebuild from FY27E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577840" cy="3287165"/>
          </a:xfrm>
          <a:prstGeom prst="rect">
            <a:avLst/>
          </a:prstGeom>
        </p:spPr>
      </p:pic>
      <p:pic>
        <p:nvPicPr>
          <p:cNvPr id="5" name="Picture 4" descr="chart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31679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Built from 9M actuals plus Q4, FY26E sales reach €79.9bn (-1.1% reported) and PRO €17.2bn (21.5% margin). Sales then grow at a 4.5% CAGR to FY31E and the margin recovers to 23.9%, still below FY23's 26.5%.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Valuation points to upside on every central estimate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20219"/>
            <a:ext cx="7315200" cy="4017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DCF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€480 (Gordon, g 2.5%) to €523 (exit 11.0x), at an 8.1% WACC.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Sum-of-the-parts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€450 per share, valuing each business group on the EV/EBIT of its own listed peers.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Trading comps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€545 at the 16.5x core-peer median. Kering's trough earnings inflate that median, so we use it as a cross-check only.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Conclusion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€505 blended target, +30% upside, +3% versus the €492 consensus.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MarketScreener,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DCF supports a €480-523 intrinsic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2847"/>
            <a:ext cx="5577840" cy="3800744"/>
          </a:xfrm>
          <a:prstGeom prst="rect">
            <a:avLst/>
          </a:prstGeom>
        </p:spPr>
      </p:pic>
      <p:pic>
        <p:nvPicPr>
          <p:cNvPr id="5" name="Picture 4" descr="chart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90771"/>
            <a:ext cx="5577840" cy="38248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029200"/>
            <a:ext cx="1143000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Key Modeling Assumptions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Discount rate &amp; TV: WACC of 8.1% (10Y Bund 3.37%, Blume beta 0.91, ERP 5.5%). Terminal growth 2.5%; exit multiple 11.0x EV/EBITDA (Gordon-implied 9.9x).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Cash flows: UFCF = NOPAT + D&amp;A - capex - change in NWC - net lease cost (pre-IFRS 16 basis). Tax at 30% in FY26E (French surtax), 27% thereafter.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Valuation at 31 December 2026: EV of €247bn (Gordon) and €268bn (exit); terminal value is 78% of the Gordon EV. The bridge deducts net debt, minorities and purchase commitments (incl. Diageo's 34% of Moët Hennessy).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029200"/>
            <a:ext cx="11430000" cy="457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The share price already discounts a ~9.4% WACC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5455"/>
            <a:ext cx="7315200" cy="3007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Base case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At an 8.1% WACC and 2.5% growth, the Gordon DCF gives €480 per share.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What the market prices in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The €388 share price implies a WACC of about 9.4%, close to the 9.6% obtained with the stressed French OAT (4.93%) as risk-free rate.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Downside protection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Even at a 9.6% WACC, the exit-multiple DCF still gives €490 per share at 11.0x.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LVMH trades at a 28% EV/EBIT discount to luxury peers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577840" cy="3473720"/>
          </a:xfrm>
          <a:prstGeom prst="rect">
            <a:avLst/>
          </a:prstGeom>
        </p:spPr>
      </p:pic>
      <p:pic>
        <p:nvPicPr>
          <p:cNvPr id="5" name="Picture 4" descr="chart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3473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At 11.9x EV/EBIT and 17.4x P/E 2026E, LVMH trades 28% and 25% below the median of Hermès, Richemont, Kering, Prada and Moncler. Applying the 16.5x median EV/EBIT would value the shares at €545.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MarketScreener / Zonebourse consensus,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Sum-of-the-parts and LVMH's own deal history confirm the upside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577840" cy="3438920"/>
          </a:xfrm>
          <a:prstGeom prst="rect">
            <a:avLst/>
          </a:prstGeom>
        </p:spPr>
      </p:pic>
      <p:pic>
        <p:nvPicPr>
          <p:cNvPr id="5" name="Picture 4" descr="char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37801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Valued business group by business group, LVMH is worth €236bn of EV or €450 per share, so the market applies a 13% conglomerate discount. LVMH itself paid 15.6x EBITDA for Dior Couture and 18.5x for Tiffany; the 15.6x scale-relevant median implies €644 on a control basis.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Tiffany DEFM14A (SEC), KPMG Advisory, FT, BoF, company filings,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Triangulating to a €505 blended target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0899"/>
            <a:ext cx="7315200" cy="3856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Methodology weighting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50% DCF (average of Gordon and exit), 35% sum-of-the-parts and 15% precedent transactions, as for all Axone coverage.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Why this mix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The DCF captures the margin recovery, the SOTP prices each business group against its own listed peers, and precedents are limited to deals above €5bn.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Final target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The blend gives €504.84, rounded to €505: +30% upside and a BUY rating.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Cash generation funds rising dividends and a move to net cash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6937"/>
            <a:ext cx="7315200" cy="40241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Current position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Net financial debt of €8.2bn at 30 June 2026, or 0.4x EBITDA, excluding €16.3bn of lease liabilities.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Cash conversion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Unlevered FCF of about 90% of NOPAT, or €68bn cumulated from FY27E to FY31E.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Uses of cash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Dividends of €13.0-15.0 per share (€35bn) and €1.5bn a year of buybacks still leave LVMH in net cash from FY28E, with room for bolt-on M&amp;A.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Key risks to our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China slowdown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Chinese clientele fell by mid-teens in Q3 2026 and Fashion &amp; Leather Goods declined 5% organically; a longer downturn would delay our margin recovery.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Fashion creative reset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The new creative directions across the Maisons must win customers back; failure would keep the 36.5% FY30E Fashion margin out of reach.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Currency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FX cut reported sales by about 5 points in H1 2026; a stronger euro against the dollar and the yen would weigh on reported profit.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0352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Middle East &amp; tourism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The regional conflict cost about 1 point of organic growth in Q2 2026 and keeps disrupting travel retail.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US tariffs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Threats of tariffs of up to 200% on French wines and champagne (January 2026) put Moët Hennessy's US business at risk.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French fiscal risk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An OAT near 5% and the corporate surtax could push both the discount rate and the tax rate above our 27% normalised assumption.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737373"/>
                </a:solidFill>
                <a:latin typeface="Arial"/>
              </a:rPr>
              <a:t>Educational purposes only; not investment advice, an offer, or a solicitation. Prepared for the Axone platform based on public filings, consensus data and proprietary estimates. Figures as of 27 October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LVMH - Initiating Coverage - Axone Equity Research</dc:title>
  <dc:subject/>
  <dc:creator>Rezo Sabashvili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