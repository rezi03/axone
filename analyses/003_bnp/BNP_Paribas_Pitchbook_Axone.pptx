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BNP Paribas  (BNP FP)</a:t>
            </a:r>
          </a:p>
          <a:p>
            <a:pPr algn="ctr"/>
            <a:r>
              <a:rPr sz="1800" b="0" i="0">
                <a:solidFill>
                  <a:srgbClr val="D1D5DB"/>
                </a:solidFill>
                <a:latin typeface="Arial"/>
              </a:rPr>
              <a:t>Initiating Coverage  ·  Banks</a:t>
            </a:r>
          </a:p>
          <a:p>
            <a:pPr algn="ctr">
              <a:spcBef>
                <a:spcPts val="1000"/>
              </a:spcBef>
            </a:pPr>
            <a:r>
              <a:rPr sz="2200" b="1" i="0">
                <a:solidFill>
                  <a:srgbClr val="FFFFFF"/>
                </a:solidFill>
                <a:latin typeface="Arial"/>
              </a:rPr>
              <a:t>BUY   ·   Target €113   ·   Upside +35%   ·   Current €83.52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737373"/>
                </a:solidFill>
                <a:latin typeface="Arial"/>
              </a:rPr>
              <a:t>Axone Equity Research   |   Prepared by Sabashvili Rezi   |  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Investment thesis: a French discount on a European champion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82880" rIns="182880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The shares fell from €114 to €83.52 as the OAT crossed 5%. Yet France is only 26% of revenues and 10% of 2025 pre-tax income, and French government bonds total about €20bn, €16bn of them at amortised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French risk, not BNP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9272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82880" rIns="182880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We forecast net income rising from €12.2bn in FY25 to €16.2bn in FY28E, a 9.8% CAGR, with RoTE climbing from 11.6% to 13.7%. Our EPS stays within 3% of consensus every year to FY29E.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2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Earnings compounding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82880" rIns="182880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With CET1 at 13.0%, 257bp above requirements, BNP can return all profit not needed for RWA growth: €10.1bn on FY27E results, a 11% yield on today's market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1344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 capital return machine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43416" y="1463040"/>
            <a:ext cx="2651760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182880" rIns="182880"/>
          <a:lstStyle/>
          <a:p>
            <a:pPr algn="ctr"/>
            <a:r>
              <a:rPr sz="1300" b="0" i="0">
                <a:solidFill>
                  <a:srgbClr val="262626"/>
                </a:solidFill>
                <a:latin typeface="Arial"/>
              </a:rPr>
              <a:t>At 0.85x tangible book, the market prices a 15.9% cost of equity, 4.1 points above a CAPM already built on the stressed OAT. Our €113 target only assumes 1.15x TBV.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43416" y="1463040"/>
            <a:ext cx="265176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 mispriced cost of equity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 diversified universal bank built on three divisions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73173"/>
            <a:ext cx="7315200" cy="47116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Retail is the base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Commercial, Personal Banking &amp; Services made 51% of FY25 divisional revenues, with a 13.9% RONE (14.8% in Q2-26).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CIB is the engine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Corporate &amp; Institutional Banking made 36% of revenues at a 21.3% RONE, rising to 26.6% in Q2-26.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IPS adds capital-light growth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Investment &amp; Protection Services (13% of revenues) earned a 22.8% RONE; AXA IM is being integrated and Athlon closed on 31 July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BNP Paribas 4Q25 and 2Q26 results,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Earnings compound at ~10% a year while RoTE climbs above 13%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577840" cy="3167923"/>
          </a:xfrm>
          <a:prstGeom prst="rect">
            <a:avLst/>
          </a:prstGeom>
        </p:spPr>
      </p:pic>
      <p:pic>
        <p:nvPicPr>
          <p:cNvPr id="5" name="Picture 4" descr="chart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577840" cy="3360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Takeaway: Built from H1-26 actuals, FY26E revenues reach €55.0bn and net income €13.8bn, helped by an €858m one-off gain. Cost/income falls from 59.5% to 56.3% in FY28E and RoTE reaches 13.7%, above our 11.8% cost of equity throughout.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BNP Paribas filings, analysts' consensus compiled by BNP Paribas (10-Jul-2026), Axone Equity Research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Valuation points to upside on every central estimate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7488"/>
            <a:ext cx="7315200" cy="38830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Dividend discount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€121 (excess-capital DDM) and €117 (Gordon P/TBV) at an 11.8% cost of equity, 13.5% long-term RoTE and 2.0% growth.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Trading comps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€103: the P/TBV that BNP's RoTE warrants against seven peers, cut by a 13% French discount.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Precedents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€114 on 2024-26 bank deals, with each multiple normalised by the target's RoTE.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Conclusion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€113 blended target, +35% upside, -4% versus the €118 consensus.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Investing.com consensus,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Dividend discount model supports €117-121 of intrinsic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80" y="896112"/>
            <a:ext cx="5528799" cy="3767328"/>
          </a:xfrm>
          <a:prstGeom prst="rect">
            <a:avLst/>
          </a:prstGeom>
        </p:spPr>
      </p:pic>
      <p:pic>
        <p:nvPicPr>
          <p:cNvPr id="5" name="Picture 4" descr="chart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97770"/>
            <a:ext cx="5577840" cy="3764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736592"/>
            <a:ext cx="11430000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Key Modeling Assumptions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003366"/>
                </a:solidFill>
                <a:latin typeface="Arial"/>
              </a:rPr>
              <a:t>▪ 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Cost of equity of 11.8%: French OAT 4.93% + Blume beta 1.25 x ERP 5.5%. We use the OAT, not the Bund (3.37%), because BNP's funding and sovereign holdings tie it to France; a Bund basis would give 10.2%.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003366"/>
                </a:solidFill>
                <a:latin typeface="Arial"/>
              </a:rPr>
              <a:t>▪ 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Distributions: FY26E at the 60% policy (50% cash, 10% buyback); from FY27E, all profit above 13% CET1 on RWA growing 3-3.5% a year, a 74%-81% payout. No EV bridge: a bank is valued on its equity.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003366"/>
                </a:solidFill>
                <a:latin typeface="Arial"/>
              </a:rPr>
              <a:t>▪ 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Terminal value: justified P/TBV of 1.17x = (RoTE 13.5% - g 2.0%) / (Ke - g) on FY31E tangible equity, 63% of the DDM value. The Gordon variant applies it to end-FY26E tangible equity.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736592"/>
            <a:ext cx="11430000" cy="457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Banque de France, Bundesbank, ABC Bourse, BNP Paribas filings, Axone Equity Research estimates | Strictly Private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The share price already discounts a ~16% cost of equity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43351"/>
            <a:ext cx="7315200" cy="3971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Base case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At an 11.8% cost of equity and a 13.5% long-term RoTE, the Gordon P/TBV gives €117 per share.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What the market prices in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€83.52 implies a 15.9% cost of equity, and still 14.7% if RoTE stalls at the FY26E 12.5%, versus 10.2% on a Bund basis.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Downside protection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Even at a 13.3% cost of equity and a 12.5% RoTE, value is €94, +12% above the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BNP trades at 0.85x TBV, 29% below what its RoTE warrants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577840" cy="3627346"/>
          </a:xfrm>
          <a:prstGeom prst="rect">
            <a:avLst/>
          </a:prstGeom>
        </p:spPr>
      </p:pic>
      <p:pic>
        <p:nvPicPr>
          <p:cNvPr id="5" name="Picture 4" descr="chart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577840" cy="37991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Takeaway: Across seven large European banks, RoTE explains P/TBV (R² 0.61). At a 12.5% RoTE, BNP should trade at 1.20x but sits at 0.85x, like SocGen (0.84x). Scaling SocGen's 23% discount by BNP's lower French exposure gives 1.04x, or €103.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H1-26 filings, market prices Oct-2026, Axone Equity Research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Bank M&amp;A prices profitability: control deals point to €114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577840" cy="3792677"/>
          </a:xfrm>
          <a:prstGeom prst="rect">
            <a:avLst/>
          </a:prstGeom>
        </p:spPr>
      </p:pic>
      <p:pic>
        <p:nvPicPr>
          <p:cNvPr id="5" name="Picture 4" descr="chart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577840" cy="37394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Takeaway: Seven bank deals since November 2024 paid 0.8x to 2.2x tangible book (median 1.45x). Per 10 points of target RoTE, buyers paid a median 0.93x; at BNP's 12.5% RoTE this means 1.16x Jun-26 TBV, or €114 (€107-157 interquartile).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Santander, UniCredit, MPS, Erste and BPCE announcements and offer documents, Reuters Breakingviews, Axone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Triangulating to a €113 blended target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0823"/>
            <a:ext cx="7315199" cy="39363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Methodology weighting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50% dividend discount (average of DDM and Gordon P/TBV), 35% trading comps and 15% precedent transactions, as for all Axone coverage.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Why bank methods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Deposits and debt are a bank's raw material, so EV, WACC and FCFF do not apply. Value comes from distributable capital and the return earned on tangible equity.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Final target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The blend gives €112.52, rounded to €113: +35% upside and a BUY rating, at 1.15x TBV and 9.0x FY27E 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Excess capital funds ~€72bn of distributions over FY26E-FY31E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chart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96484"/>
            <a:ext cx="7315200" cy="4065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97280"/>
            <a:ext cx="393192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03366"/>
                </a:solidFill>
                <a:latin typeface="Arial"/>
              </a:rPr>
              <a:t>Key Takeaways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Capital position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CET1 of 13.0% at 30 June 2026 against a 10.43% requirement: a 257bp buffer, with a 4.4% leverage ratio and a 149% LCR.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Distribution policy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50% cash and 10% buyback on 2026 results, then at least 60% from 2027, to be detailed with the 2030 plan on 2 February 2027.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 i="0">
                <a:solidFill>
                  <a:srgbClr val="003366"/>
                </a:solidFill>
                <a:latin typeface="Arial"/>
              </a:rPr>
              <a:t>Accretive buybacks : </a:t>
            </a:r>
            <a:r>
              <a:rPr sz="1200" b="0" i="0">
                <a:solidFill>
                  <a:srgbClr val="262626"/>
                </a:solidFill>
                <a:latin typeface="Arial"/>
              </a:rPr>
              <a:t>Buybacks below tangible book lift TBVPS from €96.6 (FY26E) to €137 (FY31E) if the discount persists; DPS rises to €10.17.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Key risks to our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French sovereign &amp; politics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The OAT crossed 5% on 21-22 October 2026, Moody's has a negative outlook on France and the presidential election is less than six months away.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Sudan litigation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BNP is appealing the US Sudan sanctions verdict before the Second Circuit and has booked no provision; an adverse ruling would hit capital.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Rates and NII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Lower euro rates or a flatter curve would slow deposit repricing in French retail and our 3.5-4.5% CPBS revenue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30352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Cost of risk &amp; geopolitics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The Middle East war and tariffs could lift provisions: every 10bp above our 40bp cost of risk costs about €1bn before tax.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Execution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AXA IM integration and the cost plan must bring cost/income from 59.5% to 56.3% by FY28E; the 2030 plan comes on 2 February 2027.</a:t>
            </a:r>
          </a:p>
          <a:p>
            <a:pPr>
              <a:spcAft>
                <a:spcPts val="1500"/>
              </a:spcAft>
            </a:pPr>
            <a:r>
              <a:rPr sz="1400" b="1" i="0">
                <a:solidFill>
                  <a:srgbClr val="003366"/>
                </a:solidFill>
                <a:latin typeface="Arial"/>
              </a:rPr>
              <a:t>▪  Regulation &amp; tax :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Basel IV / FRTB RWA inflation, new French bank taxes or a longer corporate surtax would cut distributable capital.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737373"/>
                </a:solidFill>
                <a:latin typeface="Arial"/>
              </a:rPr>
              <a:t>Educational purposes only; not investment advice, an offer, or a solicitation. Prepared for the Axone platform based on public filings, consensus data and proprietary estimates. Figures as of 27 October 2026, before the 3Q26 results of 28 October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737373"/>
                </a:solidFill>
                <a:latin typeface="Arial"/>
              </a:rPr>
              <a:t>Source: Company filings, Axone Equity Research estimates | Strictly Private &amp;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BNP Paribas - Initiating Coverage - Axone Equity Research</dc:title>
  <dc:subject/>
  <dc:creator>Rezo Sabashvili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