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6517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Pernod Ricard SA  (RI FP)</a:t>
            </a:r>
          </a:p>
          <a:p>
            <a:pPr algn="ctr"/>
            <a:r>
              <a:rPr sz="1800" b="0" i="0">
                <a:solidFill>
                  <a:srgbClr val="D1D5DB"/>
                </a:solidFill>
                <a:latin typeface="Arial"/>
              </a:rPr>
              <a:t>Initiating Coverage  ·  Spirits &amp; Wine</a:t>
            </a:r>
          </a:p>
          <a:p>
            <a:pPr algn="ctr">
              <a:spcBef>
                <a:spcPts val="1000"/>
              </a:spcBef>
            </a:pPr>
            <a:r>
              <a:rPr sz="2200" b="1" i="0">
                <a:solidFill>
                  <a:srgbClr val="FFFFFF"/>
                </a:solidFill>
                <a:latin typeface="Arial"/>
              </a:rPr>
              <a:t>BUY   ·   Target €108   ·   Upside +68%   ·   Current €64.14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737373"/>
                </a:solidFill>
                <a:latin typeface="Arial"/>
              </a:rPr>
              <a:t>Axone Equity Research   |   Prepared by Sabashvili Rezi   |  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Investment thesis: a quality franchise at a discount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651760" cy="457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 lIns="182880" rIns="182880" wrap="square"/>
          <a:lstStyle/>
          <a:p>
            <a:pPr algn="ctr"/>
            <a:r>
              <a:rPr sz="1300" b="0" i="0">
                <a:solidFill>
                  <a:srgbClr val="262626"/>
                </a:solidFill>
                <a:latin typeface="Arial"/>
              </a:rPr>
              <a:t>Pernod trades at 8.1x EV/EBITDA versus a 12.4x peer median. This implies a ~24% discount despite holding the #2 global position and an ultra-premium portfolio (Jameson, Absolut, Martell).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65176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Deep valuation discount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319272" y="1463040"/>
            <a:ext cx="2651760" cy="457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 lIns="182880" rIns="182880" wrap="square"/>
          <a:lstStyle/>
          <a:p>
            <a:pPr algn="ctr"/>
            <a:r>
              <a:rPr sz="1300" b="0" i="0">
                <a:solidFill>
                  <a:srgbClr val="262626"/>
                </a:solidFill>
                <a:latin typeface="Arial"/>
              </a:rPr>
              <a:t>Q3 organic net sales returned to stability (+0.1%) after a soft H1. Management guidance of +3% to +6% organic growth per annum over FY27-29 offers clear visibility.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9272" y="1463040"/>
            <a:ext cx="265176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FY26 transition year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1344" y="1463040"/>
            <a:ext cx="2651760" cy="457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 lIns="182880" rIns="182880" wrap="square"/>
          <a:lstStyle/>
          <a:p>
            <a:pPr algn="ctr"/>
            <a:r>
              <a:rPr sz="1300" b="0" i="0">
                <a:solidFill>
                  <a:srgbClr val="262626"/>
                </a:solidFill>
                <a:latin typeface="Arial"/>
              </a:rPr>
              <a:t>We project net debt/EBITDA falling from ~3.4x to ~2.0x by FY30. This is perfectly in line with the &lt;3.0x target by FY29, supported by an ~80% cash conversion rate.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1344" y="1463040"/>
            <a:ext cx="265176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Clear deleveraging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43416" y="1463040"/>
            <a:ext cx="2651760" cy="457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 lIns="182880" rIns="182880" wrap="square"/>
          <a:lstStyle/>
          <a:p>
            <a:pPr algn="ctr"/>
            <a:r>
              <a:rPr sz="1300" b="0" i="0">
                <a:solidFill>
                  <a:srgbClr val="262626"/>
                </a:solidFill>
                <a:latin typeface="Arial"/>
              </a:rPr>
              <a:t>Precedent transactions in the spirits sector have priced at a median 16.9x EV/EBITDA. A control-premium scenario yields an implied value well above our €108 target.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43416" y="1463040"/>
            <a:ext cx="265176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M&amp;A floors 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Company filings, Axone Equity Research estimates | Strictly Private &amp;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A diversified, premium global spirits leader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6009"/>
            <a:ext cx="7315200" cy="39317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097280"/>
            <a:ext cx="393192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003366"/>
                </a:solidFill>
                <a:latin typeface="Arial"/>
              </a:rPr>
              <a:t>Key Takeaways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Global Footprint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Revenues are highly diversified across the Americas, Europe, and Asia/RoW, minimizing reliance on a single geographic market.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Premiumization Strategy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High exposure to premium and super-premium segments protects gross margins during inflationary cycles.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Strategic Focus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Continued rationalization of the portfolio (e.g., disposal of local wine brands) to focus exclusively on high-margin core spirits.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Company filings, Axone Equity Research estimates | Strictly Private &amp;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Returning to top-line growth with steady margin expansion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47143"/>
            <a:ext cx="5577840" cy="2997953"/>
          </a:xfrm>
          <a:prstGeom prst="rect">
            <a:avLst/>
          </a:prstGeom>
        </p:spPr>
      </p:pic>
      <p:pic>
        <p:nvPicPr>
          <p:cNvPr id="5" name="Picture 4" descr="chart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50048"/>
            <a:ext cx="5577840" cy="29921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669280"/>
            <a:ext cx="11430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Takeaway: We model organic revenue growth stabilizing at ~4-5% from FY28, with gross margins expanding slightly to 60.0% by FY30 driven by positive price-mix and easing COGS.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Company filings, Axone Equity Research estimates | Strictly Private &amp;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Valuation points to material upside across all methodologies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0292"/>
            <a:ext cx="7315200" cy="45831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097280"/>
            <a:ext cx="393192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003366"/>
                </a:solidFill>
                <a:latin typeface="Arial"/>
              </a:rPr>
              <a:t>Key Takeaways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DCF Valuation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Points to a fundamental range of €88 - €99 per share, based on conservative terminal growth (1.5%) and exit multiples (11.0x).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Trading Comparables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Suggests a fair value of ~€105. Pernod's current multiple is heavily penalized compared to direct peers like Diageo and Campari.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Precedent Transactions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Implies a control value of ~€161, highlighting the immense strategic scarcity value of Pernod's portfolio.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Conclusion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Our €108 blended target price represents an asymmetric risk/reward profile with +68% upside from current spot levels.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Company filings, Axone Equity Research estimates | Strictly Private &amp;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DCF supports a €88-99 intrinsic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42958"/>
            <a:ext cx="5577840" cy="3349123"/>
          </a:xfrm>
          <a:prstGeom prst="rect">
            <a:avLst/>
          </a:prstGeom>
        </p:spPr>
      </p:pic>
      <p:pic>
        <p:nvPicPr>
          <p:cNvPr id="5" name="Picture 4" descr="chart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70183"/>
            <a:ext cx="5577840" cy="34946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029200"/>
            <a:ext cx="1143000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Key Modeling Assumptions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1" i="0">
                <a:solidFill>
                  <a:srgbClr val="003366"/>
                </a:solidFill>
                <a:latin typeface="Arial"/>
              </a:rPr>
              <a:t>▪  </a:t>
            </a:r>
            <a:r>
              <a:rPr sz="1100" b="0" i="0">
                <a:solidFill>
                  <a:srgbClr val="262626"/>
                </a:solidFill>
                <a:latin typeface="Arial"/>
              </a:rPr>
              <a:t>Discount Rate &amp; TV: WACC of 7.3% (Beta 1.25, ERP 5.5%, RFR 3.7%). Terminal growth of 1.5% and implied exit multiple of 11.0x.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1" i="0">
                <a:solidFill>
                  <a:srgbClr val="003366"/>
                </a:solidFill>
                <a:latin typeface="Arial"/>
              </a:rPr>
              <a:t>▪  </a:t>
            </a:r>
            <a:r>
              <a:rPr sz="1100" b="0" i="0">
                <a:solidFill>
                  <a:srgbClr val="262626"/>
                </a:solidFill>
                <a:latin typeface="Arial"/>
              </a:rPr>
              <a:t>Cash Flow Mechanics: Unlevered FCF = NOPAT + D&amp;A - Capex - Change in NWC. Effective tax rate normalized at 25%.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1" i="0">
                <a:solidFill>
                  <a:srgbClr val="003366"/>
                </a:solidFill>
                <a:latin typeface="Arial"/>
              </a:rPr>
              <a:t>▪  </a:t>
            </a:r>
            <a:r>
              <a:rPr sz="1100" b="0" i="0">
                <a:solidFill>
                  <a:srgbClr val="262626"/>
                </a:solidFill>
                <a:latin typeface="Arial"/>
              </a:rPr>
              <a:t>Valuation Triangulation: Enterprise Value derived from an equal blend of Gordon Growth (€34.4bn) and Exit Multiple (€37.1bn) methods.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029200"/>
            <a:ext cx="114300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Company filings, Axone Equity Research estimates | Strictly Private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Valuation is robust across WACC and growth scenarios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72506"/>
            <a:ext cx="7315200" cy="28787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097280"/>
            <a:ext cx="393192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003366"/>
                </a:solidFill>
                <a:latin typeface="Arial"/>
              </a:rPr>
              <a:t>Key Takeaways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Base Case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At a 7.3% WACC and 1.5% perpetuity growth, the Gordon Growth method yields €88/share.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Downside Protection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Even in a stressed scenario (WACC at 8.0%, growth at 1.0%), the implied equity value remains above the current market price of €64.14.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Upside Potential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A reversion to historical WACC levels (~6.5%) combined with standard 2.0% terminal growth would imply a share price above €120.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Company filings, Axone Equity Research estimates | Strictly Private &amp;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Pernod is mispriced versus global spirits peers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6720"/>
            <a:ext cx="5577840" cy="3098800"/>
          </a:xfrm>
          <a:prstGeom prst="rect">
            <a:avLst/>
          </a:prstGeom>
        </p:spPr>
      </p:pic>
      <p:pic>
        <p:nvPicPr>
          <p:cNvPr id="5" name="Picture 4" descr="chart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92229"/>
            <a:ext cx="5577840" cy="31077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669280"/>
            <a:ext cx="11430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Takeaway: At 8.1x EV/EBITDA, PR trades at a ~35% discount to Diageo (10.8x) and Campari (12.8x). Reverting to the peer median (12.4x) yields our €105 implied price.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Bloomberg, Company filings, Axone Equity Research estimates | Strictly Private &amp;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M&amp;A precedents imply a substantial control premium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07125"/>
            <a:ext cx="7315200" cy="4409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097280"/>
            <a:ext cx="393192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003366"/>
                </a:solidFill>
                <a:latin typeface="Arial"/>
              </a:rPr>
              <a:t>Key Takeaways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Historical Multiples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Over the last 15 years, major spirits platforms (Beam, Allied Domecq, Grand Marnier) have been acquired at a median EV/EBITDA of 16.9x.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Strategic Scarcity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Assets of Pernod Ricard's scale are essentially impossible to replicate. Any theoretical buyout would require a massive premium.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Implied Value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Applying the 16.9x median to our FY26E EBITDA (€3.1bn) yields an implied share price of ~€161, acting as a definitive valuation floor.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Mergermarket, Company filings, Axone Equity Research estimates | Strictly Private &amp;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Triangulating to a €108 blended target price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91177"/>
            <a:ext cx="7315200" cy="42414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097280"/>
            <a:ext cx="393192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003366"/>
                </a:solidFill>
                <a:latin typeface="Arial"/>
              </a:rPr>
              <a:t>Key Takeaways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Methodology Weighting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We apply a 50% weight to DCF (average of Gordon and Exit methods), 35% to Trading Comps, and 15% to Precedent Transactions.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Why this mix?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Acknowledges the fundamental cash-generative nature of the business (DCF) while factoring in the reality of public market multiples (Comps) and latent strategic value (M&amp;A).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Final Target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The blended output is €107.91, which we round to €108, representing a 68% upside.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Company filings, Axone Equity Research estimates | Strictly Private &amp;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Strong cash generation drives rapid deleveraging by FY29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6009"/>
            <a:ext cx="7315200" cy="39317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097280"/>
            <a:ext cx="393192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003366"/>
                </a:solidFill>
                <a:latin typeface="Arial"/>
              </a:rPr>
              <a:t>Key Takeaways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Current Position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Net debt stands at €11.1bn (FY25), representing an elevated ~3.4x Net Debt/EBITDA ratio.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Cash Conversion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Robust Unlevered FCF generation allows for rapid debt paydown without compromising the dividend policy (DPS €4.70).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Target Reached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We forecast leverage falling comfortably below management's 3.0x target by FY29, and reaching 2.0x by FY30, offering future balance sheet optionality.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Company filings, Axone Equity Research estimates | Strictly Private &amp;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Key risks to our 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03520" cy="4754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00"/>
              </a:spcAft>
            </a:pPr>
            <a:r>
              <a:rPr sz="1400" b="1" i="0">
                <a:solidFill>
                  <a:srgbClr val="003366"/>
                </a:solidFill>
                <a:latin typeface="Arial"/>
              </a:rPr>
              <a:t>▪  China weakness : </a:t>
            </a:r>
            <a:r>
              <a:rPr sz="1400" b="0" i="0">
                <a:solidFill>
                  <a:srgbClr val="262626"/>
                </a:solidFill>
                <a:latin typeface="Arial"/>
              </a:rPr>
              <a:t>Organic net sales -24% YTD; prolonged Martell/cognac softness would severely pressure margin mix.</a:t>
            </a:r>
          </a:p>
          <a:p>
            <a:pPr>
              <a:spcAft>
                <a:spcPts val="1500"/>
              </a:spcAft>
            </a:pPr>
            <a:r>
              <a:rPr sz="1400" b="1" i="0">
                <a:solidFill>
                  <a:srgbClr val="003366"/>
                </a:solidFill>
                <a:latin typeface="Arial"/>
              </a:rPr>
              <a:t>▪  US normalization : </a:t>
            </a:r>
            <a:r>
              <a:rPr sz="1400" b="0" i="0">
                <a:solidFill>
                  <a:srgbClr val="262626"/>
                </a:solidFill>
                <a:latin typeface="Arial"/>
              </a:rPr>
              <a:t>Organic net sales -14% YTD. The pace of trade inventory adjustments taking longer than expected could push the return to growth into late FY27.</a:t>
            </a:r>
          </a:p>
          <a:p>
            <a:pPr>
              <a:spcAft>
                <a:spcPts val="1500"/>
              </a:spcAft>
            </a:pPr>
            <a:r>
              <a:rPr sz="1400" b="1" i="0">
                <a:solidFill>
                  <a:srgbClr val="003366"/>
                </a:solidFill>
                <a:latin typeface="Arial"/>
              </a:rPr>
              <a:t>▪  Adverse FX : </a:t>
            </a:r>
            <a:r>
              <a:rPr sz="1400" b="0" i="0">
                <a:solidFill>
                  <a:srgbClr val="262626"/>
                </a:solidFill>
                <a:latin typeface="Arial"/>
              </a:rPr>
              <a:t>Management guides to a significantly negative FX impact (USD, INR, TRY) presenting a material translation drag on EUR earnings.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59" y="1280160"/>
            <a:ext cx="5303520" cy="4754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00"/>
              </a:spcAft>
            </a:pPr>
            <a:r>
              <a:rPr sz="1400" b="1" i="0">
                <a:solidFill>
                  <a:srgbClr val="003366"/>
                </a:solidFill>
                <a:latin typeface="Arial"/>
              </a:rPr>
              <a:t>▪  Global Travel Retail : </a:t>
            </a:r>
            <a:r>
              <a:rPr sz="1400" b="0" i="0">
                <a:solidFill>
                  <a:srgbClr val="262626"/>
                </a:solidFill>
                <a:latin typeface="Arial"/>
              </a:rPr>
              <a:t>Growth could stall due to geopolitical tensions and Middle East travel disruptions, despite a strong Q3 (+39%).</a:t>
            </a:r>
          </a:p>
          <a:p>
            <a:pPr>
              <a:spcAft>
                <a:spcPts val="1500"/>
              </a:spcAft>
            </a:pPr>
            <a:r>
              <a:rPr sz="1400" b="1" i="0">
                <a:solidFill>
                  <a:srgbClr val="003366"/>
                </a:solidFill>
                <a:latin typeface="Arial"/>
              </a:rPr>
              <a:t>▪  Execution risk : </a:t>
            </a:r>
            <a:r>
              <a:rPr sz="1400" b="0" i="0">
                <a:solidFill>
                  <a:srgbClr val="262626"/>
                </a:solidFill>
                <a:latin typeface="Arial"/>
              </a:rPr>
              <a:t>The €1bn FY26-29 efficiency program is central to margin defense. Any under-delivery directly hits our DCF value.</a:t>
            </a:r>
          </a:p>
          <a:p>
            <a:pPr>
              <a:spcAft>
                <a:spcPts val="1500"/>
              </a:spcAft>
            </a:pPr>
            <a:r>
              <a:rPr sz="1400" b="1" i="0">
                <a:solidFill>
                  <a:srgbClr val="003366"/>
                </a:solidFill>
                <a:latin typeface="Arial"/>
              </a:rPr>
              <a:t>▪  Tariff escalations : </a:t>
            </a:r>
            <a:r>
              <a:rPr sz="1400" b="0" i="0">
                <a:solidFill>
                  <a:srgbClr val="262626"/>
                </a:solidFill>
                <a:latin typeface="Arial"/>
              </a:rPr>
              <a:t>Potential trade disputes (e.g., EU vs China cognac probes) could result in punitive tariffs that compress margins.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737373"/>
                </a:solidFill>
                <a:latin typeface="Arial"/>
              </a:rPr>
              <a:t>Educational purposes only; not investment advice, an offer, or a solicitation. Prepared for the Axone platform based on public filings and proprietary estimates. Figures as of June 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Company filings, Axone Equity Research estimates | Strictly Private &amp;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